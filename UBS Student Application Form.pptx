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Playfair Displ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Cinzel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C74F9D-9515-4B71-B668-C2B519E5572F}">
  <a:tblStyle styleId="{ADC74F9D-9515-4B71-B668-C2B519E557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bold.fntdata"/><Relationship Id="rId25" Type="http://schemas.openxmlformats.org/officeDocument/2006/relationships/font" Target="fonts/PlayfairDisplay-regular.fntdata"/><Relationship Id="rId28" Type="http://schemas.openxmlformats.org/officeDocument/2006/relationships/font" Target="fonts/PlayfairDisplay-boldItalic.fntdata"/><Relationship Id="rId27" Type="http://schemas.openxmlformats.org/officeDocument/2006/relationships/font" Target="fonts/PlayfairDispl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33" Type="http://schemas.openxmlformats.org/officeDocument/2006/relationships/font" Target="fonts/Cinzel-regular.fntdata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Cinzel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8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10" Type="http://schemas.openxmlformats.org/officeDocument/2006/relationships/image" Target="../media/image21.png"/><Relationship Id="rId9" Type="http://schemas.openxmlformats.org/officeDocument/2006/relationships/image" Target="../media/image28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Relationship Id="rId4" Type="http://schemas.openxmlformats.org/officeDocument/2006/relationships/image" Target="../media/image26.png"/><Relationship Id="rId10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54.png"/><Relationship Id="rId6" Type="http://schemas.openxmlformats.org/officeDocument/2006/relationships/image" Target="../media/image59.png"/><Relationship Id="rId7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66.png"/><Relationship Id="rId9" Type="http://schemas.openxmlformats.org/officeDocument/2006/relationships/image" Target="../media/image56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Relationship Id="rId7" Type="http://schemas.openxmlformats.org/officeDocument/2006/relationships/image" Target="../media/image57.png"/><Relationship Id="rId8" Type="http://schemas.openxmlformats.org/officeDocument/2006/relationships/image" Target="../media/image8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50.png"/><Relationship Id="rId9" Type="http://schemas.openxmlformats.org/officeDocument/2006/relationships/image" Target="../media/image62.png"/><Relationship Id="rId5" Type="http://schemas.openxmlformats.org/officeDocument/2006/relationships/image" Target="../media/image55.png"/><Relationship Id="rId6" Type="http://schemas.openxmlformats.org/officeDocument/2006/relationships/image" Target="../media/image65.png"/><Relationship Id="rId7" Type="http://schemas.openxmlformats.org/officeDocument/2006/relationships/image" Target="../media/image63.png"/><Relationship Id="rId8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7.png"/><Relationship Id="rId4" Type="http://schemas.openxmlformats.org/officeDocument/2006/relationships/image" Target="../media/image53.png"/><Relationship Id="rId5" Type="http://schemas.openxmlformats.org/officeDocument/2006/relationships/image" Target="../media/image69.png"/><Relationship Id="rId6" Type="http://schemas.openxmlformats.org/officeDocument/2006/relationships/image" Target="../media/image64.png"/><Relationship Id="rId7" Type="http://schemas.openxmlformats.org/officeDocument/2006/relationships/image" Target="../media/image68.png"/><Relationship Id="rId8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70.png"/><Relationship Id="rId5" Type="http://schemas.openxmlformats.org/officeDocument/2006/relationships/image" Target="../media/image73.png"/><Relationship Id="rId6" Type="http://schemas.openxmlformats.org/officeDocument/2006/relationships/image" Target="../media/image72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4.png"/><Relationship Id="rId4" Type="http://schemas.openxmlformats.org/officeDocument/2006/relationships/image" Target="../media/image83.png"/><Relationship Id="rId9" Type="http://schemas.openxmlformats.org/officeDocument/2006/relationships/image" Target="../media/image78.png"/><Relationship Id="rId5" Type="http://schemas.openxmlformats.org/officeDocument/2006/relationships/image" Target="../media/image84.png"/><Relationship Id="rId6" Type="http://schemas.openxmlformats.org/officeDocument/2006/relationships/image" Target="../media/image79.png"/><Relationship Id="rId7" Type="http://schemas.openxmlformats.org/officeDocument/2006/relationships/image" Target="../media/image71.png"/><Relationship Id="rId8" Type="http://schemas.openxmlformats.org/officeDocument/2006/relationships/image" Target="../media/image7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81.png"/><Relationship Id="rId5" Type="http://schemas.openxmlformats.org/officeDocument/2006/relationships/image" Target="../media/image86.png"/><Relationship Id="rId6" Type="http://schemas.openxmlformats.org/officeDocument/2006/relationships/image" Target="../media/image80.png"/><Relationship Id="rId7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0" y="1228725"/>
            <a:ext cx="876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40543" y="3228975"/>
            <a:ext cx="7310913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Student Application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14612" y="4305300"/>
            <a:ext cx="69627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Uganda Baptist Seminary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524500" y="4924425"/>
            <a:ext cx="1143000" cy="381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614612" y="5200650"/>
            <a:ext cx="6962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"Preach the Word" — II Timothy 4:2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62337"/>
            <a:ext cx="34290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3462337"/>
            <a:ext cx="34290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3462337"/>
            <a:ext cx="34290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1. COURSE SELECTION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9194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Please tick the level of study for your application: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2190750" y="3709987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45807" y="4043362"/>
            <a:ext cx="30803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Certificate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19150" y="4481512"/>
            <a:ext cx="2933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Foundational Biblical knowledge for ministry.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000750" y="3709987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555807" y="4043362"/>
            <a:ext cx="30803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Diploma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29150" y="4481512"/>
            <a:ext cx="2933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Pastoral and practical leadership training.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9810750" y="3709987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365807" y="4043362"/>
            <a:ext cx="30803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Bachelor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439150" y="4481512"/>
            <a:ext cx="2933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In-depth theological and academic research.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9868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21993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759868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359943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4241006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640931"/>
            <a:ext cx="2595562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09937" y="3640931"/>
            <a:ext cx="2595562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PERSONAL INFORMATION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286500" y="5203031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353300" y="5203031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6481"/>
            <a:ext cx="5334000" cy="3157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3850481"/>
            <a:ext cx="4838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731543"/>
            <a:ext cx="4838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702718"/>
            <a:ext cx="533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4031456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4912518"/>
            <a:ext cx="5334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FAMILY INFORMATION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819150" y="2997993"/>
            <a:ext cx="48387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Married  Single  Widow(er)  Divorced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819150" y="2997993"/>
            <a:ext cx="152400" cy="152400"/>
          </a:xfrm>
          <a:prstGeom prst="roundRect">
            <a:avLst>
              <a:gd fmla="val 25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3276600" y="2997993"/>
            <a:ext cx="152400" cy="152400"/>
          </a:xfrm>
          <a:prstGeom prst="roundRect">
            <a:avLst>
              <a:gd fmla="val 25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19150" y="3274218"/>
            <a:ext cx="152400" cy="152400"/>
          </a:xfrm>
          <a:prstGeom prst="roundRect">
            <a:avLst>
              <a:gd fmla="val 25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276600" y="3274218"/>
            <a:ext cx="152400" cy="152400"/>
          </a:xfrm>
          <a:prstGeom prst="roundRect">
            <a:avLst>
              <a:gd fmla="val 25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025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02706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83768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64831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60156"/>
            <a:ext cx="26098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4. EDUCATION: SCHOOLING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24600" y="2038350"/>
            <a:ext cx="1371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" y="5236368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31581"/>
            <a:ext cx="110490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5. HIGHER EDUCATION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2426493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List institutions attended and awards gained (Certified copies required):</a:t>
            </a:r>
            <a:endParaRPr/>
          </a:p>
        </p:txBody>
      </p:sp>
      <p:graphicFrame>
        <p:nvGraphicFramePr>
          <p:cNvPr id="167" name="Google Shape;167;p18"/>
          <p:cNvGraphicFramePr/>
          <p:nvPr/>
        </p:nvGraphicFramePr>
        <p:xfrm>
          <a:off x="571500" y="30456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{ADC74F9D-9515-4B71-B668-C2B519E5572F}</a:tableStyleId>
              </a:tblPr>
              <a:tblGrid>
                <a:gridCol w="3823100"/>
                <a:gridCol w="3201900"/>
                <a:gridCol w="4014500"/>
              </a:tblGrid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Institution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 Studied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Qualification Gained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B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[University/College]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[Degree Course]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[Certificate/Diploma]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[University/College]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[Degree Course]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[Certificate/Diploma]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[University/College]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[Degree Course]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[Certificate/Diploma]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5207793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0325"/>
            <a:ext cx="5334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00325"/>
            <a:ext cx="5334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3576637"/>
            <a:ext cx="4838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4457700"/>
            <a:ext cx="4838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3576637"/>
            <a:ext cx="4838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4457700"/>
            <a:ext cx="48387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6. BIBLE SCHOOLS &amp; COURSES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819150" y="2847975"/>
            <a:ext cx="50806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Nationally Recognized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819150" y="3181350"/>
            <a:ext cx="48387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6534150" y="2847975"/>
            <a:ext cx="50806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Local Bible Schools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534150" y="3181350"/>
            <a:ext cx="48387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24162"/>
            <a:ext cx="533400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00400"/>
            <a:ext cx="5334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81512"/>
            <a:ext cx="5334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7. WORK EXPERIENCE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413182" y="3071812"/>
            <a:ext cx="5080635" cy="30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9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Employer Permission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534150" y="3525142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Will your employer allow you to attend classes at UBS?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8534400" y="3991867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9196387" y="3991867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0287"/>
            <a:ext cx="4953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76600"/>
            <a:ext cx="4953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71500" y="571500"/>
            <a:ext cx="52006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8. CHRISTIAN EXPERIENCE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1752600"/>
            <a:ext cx="4953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0"/>
            <a:ext cx="6477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9875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33862"/>
            <a:ext cx="533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809875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833812"/>
            <a:ext cx="533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MINISTRY &amp; CALL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71500" y="3490912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7425"/>
            <a:ext cx="11049000" cy="1233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738437"/>
            <a:ext cx="10553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81412"/>
            <a:ext cx="5334000" cy="1871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681412"/>
            <a:ext cx="5334000" cy="1871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162425"/>
            <a:ext cx="48387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4162425"/>
            <a:ext cx="48387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9. ADDITIONAL INFORMATION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88381"/>
            <a:ext cx="5334000" cy="323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3600" y="2936081"/>
            <a:ext cx="14287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8325" y="3583781"/>
            <a:ext cx="14287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1700" y="4231481"/>
            <a:ext cx="142875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10. FINANCES</a:t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2459831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Payment Plan (UGX per term):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4879181"/>
            <a:ext cx="53340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25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*Letters of support are required from Church/Association sponsors.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413182" y="2536031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Bursary Adjusted Rates</a:t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6534150" y="2888456"/>
            <a:ext cx="48387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24"/>
          <p:cNvGraphicFramePr/>
          <p:nvPr/>
        </p:nvGraphicFramePr>
        <p:xfrm>
          <a:off x="6534150" y="30980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{ADC74F9D-9515-4B71-B668-C2B519E5572F}</a:tableStyleId>
              </a:tblPr>
              <a:tblGrid>
                <a:gridCol w="1678925"/>
                <a:gridCol w="1419225"/>
                <a:gridCol w="1731025"/>
              </a:tblGrid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Baptist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Non-Baptist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B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Bachelors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460,000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510,000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Diploma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310,000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360,000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Certificate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310,000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360,000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251;p24"/>
          <p:cNvSpPr txBox="1"/>
          <p:nvPr/>
        </p:nvSpPr>
        <p:spPr>
          <a:xfrm>
            <a:off x="6534150" y="5036343"/>
            <a:ext cx="4838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Actual cost is UGX 1,000,000; rates reflect internal bursary subsidies.</a:t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571500" y="3069431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71500" y="3717131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71500" y="4364831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9347"/>
            <a:ext cx="5334000" cy="3491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3169890"/>
            <a:ext cx="46672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4098577"/>
            <a:ext cx="46672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4793902"/>
            <a:ext cx="46672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11. SPONSOR SUPPORT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904875" y="2492722"/>
            <a:ext cx="4900612" cy="30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9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Sponsor Details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0" y="2159347"/>
            <a:ext cx="7620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6286500" y="2683222"/>
            <a:ext cx="53340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UBS will verify sponsor information. Inaccurate details are grounds for immediate dismissal.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66950" y="4970115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0300"/>
            <a:ext cx="533400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3424237"/>
            <a:ext cx="48387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657725"/>
            <a:ext cx="4838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2590800"/>
            <a:ext cx="4953000" cy="15198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4629745"/>
            <a:ext cx="4953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12. HEALTH INFORMATION</a:t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6724650" y="2838450"/>
            <a:ext cx="46805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Medical Acknowledgement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6724650" y="3219450"/>
            <a:ext cx="445770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F1D1D"/>
                </a:solidFill>
                <a:latin typeface="Lato"/>
                <a:ea typeface="Lato"/>
                <a:cs typeface="Lato"/>
                <a:sym typeface="Lato"/>
              </a:rPr>
              <a:t>UBS does not provide medical care or special diets. These remain the sole responsibility of the student. By signing, you confirm personal provision for these needs.</a:t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819150" y="3105150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1609725" y="3105150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13. REFERENCES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571500" y="2581275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Provide contact details for your three chosen references (Pastor, Employer, Graduate, etc.):</a:t>
            </a:r>
            <a:endParaRPr/>
          </a:p>
        </p:txBody>
      </p:sp>
      <p:graphicFrame>
        <p:nvGraphicFramePr>
          <p:cNvPr id="294" name="Google Shape;294;p27"/>
          <p:cNvGraphicFramePr/>
          <p:nvPr/>
        </p:nvGraphicFramePr>
        <p:xfrm>
          <a:off x="571500" y="3114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{ADC74F9D-9515-4B71-B668-C2B519E5572F}</a:tableStyleId>
              </a:tblPr>
              <a:tblGrid>
                <a:gridCol w="2754350"/>
                <a:gridCol w="5270300"/>
                <a:gridCol w="3014800"/>
              </a:tblGrid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Reference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Position / Relationship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Email / Telephone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B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[Ref 1]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[Pastor/Employer]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[Contact Details]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[Ref 2]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[Seminary Graduate/Missionary]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[Contact Details]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[Ref 3]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[Christian Friend/Leader]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[Contact Details]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27"/>
          <p:cNvSpPr txBox="1"/>
          <p:nvPr/>
        </p:nvSpPr>
        <p:spPr>
          <a:xfrm>
            <a:off x="571500" y="5100637"/>
            <a:ext cx="110490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Reference letters must be collected and uploaded with this application.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2675"/>
            <a:ext cx="53340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4638675"/>
            <a:ext cx="47434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14. VERIFICATION CHECKLIST</a:t>
            </a:r>
            <a:endParaRPr/>
          </a:p>
        </p:txBody>
      </p:sp>
      <p:sp>
        <p:nvSpPr>
          <p:cNvPr id="304" name="Google Shape;304;p2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5" name="Google Shape;30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96325" y="3431381"/>
            <a:ext cx="514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/>
          <p:nvPr/>
        </p:nvSpPr>
        <p:spPr>
          <a:xfrm>
            <a:off x="6286500" y="4021931"/>
            <a:ext cx="5334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Applications will only be processed after ALL documents are received.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1162050" y="2819400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Passport Size Photograph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1162050" y="3219450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Certified Certificates &amp; Transcripts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1162050" y="3619500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Three Letters of Reference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1162050" y="4019550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Sponsor Support Letters</a:t>
            </a:r>
            <a:endParaRPr/>
          </a:p>
        </p:txBody>
      </p:sp>
      <p:pic>
        <p:nvPicPr>
          <p:cNvPr descr="image.png" id="311" name="Google Shape;31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6450" y="4814887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85273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2527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65283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052887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55256"/>
            <a:ext cx="11049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12193"/>
            <a:ext cx="5334000" cy="976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12193"/>
            <a:ext cx="5334000" cy="976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3375" y="5726906"/>
            <a:ext cx="39052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474118"/>
            <a:ext cx="5334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474118"/>
            <a:ext cx="53340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571500" y="502443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15. FINAL DECLARATION</a:t>
            </a:r>
            <a:endParaRPr/>
          </a:p>
        </p:txBody>
      </p:sp>
      <p:sp>
        <p:nvSpPr>
          <p:cNvPr id="328" name="Google Shape;328;p29"/>
          <p:cNvSpPr/>
          <p:nvPr/>
        </p:nvSpPr>
        <p:spPr>
          <a:xfrm>
            <a:off x="571500" y="1140618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1809750" y="1454943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"I declare that the information given on this application is accurate and complete. I understand that my application will not be processed until all verification items are received."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505301" y="4155281"/>
            <a:ext cx="1118139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Submission Destination Info: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771525" y="4517231"/>
            <a:ext cx="10648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Upon submission, a PDF copy of your form and all attached files will be securely emailed to: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b.masaba@ugandabaptistseminary.org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b.masaba256@gmail.com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musicvoicechat@gmail.com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571500" y="3026568"/>
            <a:ext cx="53340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APPLICANT SIGNATURE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6286500" y="3026568"/>
            <a:ext cx="53340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endParaRPr/>
          </a:p>
        </p:txBody>
      </p:sp>
      <p:pic>
        <p:nvPicPr>
          <p:cNvPr descr="image.png" id="334" name="Google Shape;33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86625" y="5945981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B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571500" y="2366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571500" y="3138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571500" y="39100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1" name="Google Shape;35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9837"/>
            <a:ext cx="2038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1666875" y="25169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x-raw-image:///0e9c7720e0a6782e25e1a3cc02b414d2ddb48c29f669a40404937356ea892e19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1666875" y="27503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ugandabaptistseminary.org</a:t>
            </a:r>
            <a:endParaRPr/>
          </a:p>
        </p:txBody>
      </p:sp>
      <p:pic>
        <p:nvPicPr>
          <p:cNvPr descr="image.png" id="354" name="Google Shape;35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81362"/>
            <a:ext cx="15335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/>
        </p:nvSpPr>
        <p:spPr>
          <a:xfrm>
            <a:off x="1666875" y="32885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http://thedailygraceco.com/cdn/shop/articles/8_677430b7-f504-426c-9f9c-3bf6182ea91b.png?v=1775488012</a:t>
            </a: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1666875" y="35218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thedailygraceco.com</a:t>
            </a:r>
            <a:endParaRPr/>
          </a:p>
        </p:txBody>
      </p:sp>
      <p:pic>
        <p:nvPicPr>
          <p:cNvPr descr="image.png" id="357" name="Google Shape;35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52887"/>
            <a:ext cx="17716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0"/>
          <p:cNvSpPr txBox="1"/>
          <p:nvPr/>
        </p:nvSpPr>
        <p:spPr>
          <a:xfrm>
            <a:off x="1666875" y="40600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https://images.squarespace-cdn.com/content/v1/635bff73434dcc204d676862/57abaf40-27d2-421a-ba14-d7d59534f765/IMG-20180228-WA0015.jpg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1666875" y="42933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www.newwineskins.org</a:t>
            </a:r>
            <a:endParaRPr/>
          </a:p>
        </p:txBody>
      </p:sp>
      <p:pic>
        <p:nvPicPr>
          <p:cNvPr descr="image.png" id="360" name="Google Shape;360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24412"/>
            <a:ext cx="2038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 txBox="1"/>
          <p:nvPr/>
        </p:nvSpPr>
        <p:spPr>
          <a:xfrm>
            <a:off x="1666875" y="48315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https://ugandabaptistseminary.org/wp-content/uploads/2022/08/cropped-ubs-exterior-2-e1674867889682.jpeg</a:t>
            </a:r>
            <a:endParaRPr/>
          </a:p>
        </p:txBody>
      </p:sp>
      <p:sp>
        <p:nvSpPr>
          <p:cNvPr id="362" name="Google Shape;362;p30"/>
          <p:cNvSpPr txBox="1"/>
          <p:nvPr/>
        </p:nvSpPr>
        <p:spPr>
          <a:xfrm>
            <a:off x="1666875" y="50649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ugandabaptistseminary.org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